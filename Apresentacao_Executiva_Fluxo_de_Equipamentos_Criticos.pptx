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525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56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5636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0C6940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754880"/>
            <a:ext cx="4572000" cy="4572000"/>
          </a:xfrm>
          <a:prstGeom prst="ellipse">
            <a:avLst/>
          </a:prstGeom>
          <a:solidFill>
            <a:srgbClr val="0E7A4B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FD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EXECUTIVA DE PROJETO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de Equipamentos Críticos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7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para registro, aprovação, auditoria e gestão de ocorrências e intervenções em equipamentos críticos.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DO PROJETO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Digitalizar e centralizar, em uma única aplicação, o fluxo de registro, análise, aprovação e histórico de ocorrências em equipamentos críticos — substituindo controles manuais por um processo estruturado, rastreável e auditável.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892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0C6940"/>
          </a:solidFill>
          <a:ln w="12700">
            <a:solidFill>
              <a:srgbClr val="0E7A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5038344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FD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CONTRATANTE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87552" y="533095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Petrobras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611880" y="4892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0C6940"/>
          </a:solidFill>
          <a:ln w="12700">
            <a:solidFill>
              <a:srgbClr val="0E7A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5038344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FD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EXECUTORA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76472" y="533095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Normatel Engenharia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0" y="4892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0C6940"/>
          </a:solidFill>
          <a:ln w="12700">
            <a:solidFill>
              <a:srgbClr val="0E7A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5038344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FD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65392" y="533095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Raphael Durão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189720" y="4892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0C6940"/>
          </a:solidFill>
          <a:ln w="12700">
            <a:solidFill>
              <a:srgbClr val="0E7A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54312" y="5038344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FD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54312" y="5330952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de julho de 2026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B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fluxocriticos.vercel.app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do Problema e Motivação do Projeto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65760"/>
          </a:xfrm>
          <a:prstGeom prst="roundRect">
            <a:avLst>
              <a:gd name="adj" fmla="val 12500"/>
            </a:avLst>
          </a:prstGeom>
          <a:solidFill>
            <a:srgbClr val="0A563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do Problema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3949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 acompanhamento de ocorrências em equipamentos críticos historicamente feito por meios manuais — planilhas isoladas e e-mails avulsos — sem padronização de campos, numeração ou fluxo de aprovação.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trilha de auditoria unificada: alterações de status, decisões de aprovação e exclusões não eram rastreáveis de forma centralizada.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consolidar indicadores por gerência, instalação, sistema, equipamento e responsável para apoiar decisões gerenciais.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padronização de perfis de acesso: sem controle claro sobre quem pode criar, aprovar, excluir ou renumerar registros.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394960" cy="365760"/>
          </a:xfrm>
          <a:prstGeom prst="roundRect">
            <a:avLst>
              <a:gd name="adj" fmla="val 12500"/>
            </a:avLst>
          </a:prstGeom>
          <a:solidFill>
            <a:srgbClr val="0A5636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 do Projeto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72200" y="2103120"/>
            <a:ext cx="53949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uma plataforma única, em nuvem, com autenticação, aprovação hierárquica e histórico imutável de ações.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o cadastro de ocorrências por meio de formulários dinâmicos configuráveis, sem depender de alteração de código a cada mudança de processo.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a geração de relatórios (PDF e Excel) e o envio de comunicados por e-mail no padrão visual da operação (Petrobras / Normatel).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Disponibilizar o sistema a qualquer momento, com atualização de dados em tempo real entre todos os usuários conectados.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Objetivos, Público-Alvo e Benefícios Esperados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65760"/>
          </a:xfrm>
          <a:prstGeom prst="roundRect">
            <a:avLst>
              <a:gd name="adj" fmla="val 12500"/>
            </a:avLst>
          </a:prstGeom>
          <a:solidFill>
            <a:srgbClr val="0A563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do Projeto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394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o registro do Fluxo de Equipamentos Críticos em uma única aplicação web.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um fluxo estruturado de aprovação (Pendente → Aprovado / Rejeitado / Reajuste).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rastreabilidade completa por meio de log de auditoria imutável.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a configuração dos campos do formulário sem intervenção técnica.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Disponibilizar indicadores gerenciais em tempo real por meio de dashboard.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5394960" cy="365760"/>
          </a:xfrm>
          <a:prstGeom prst="roundRect">
            <a:avLst>
              <a:gd name="adj" fmla="val 12500"/>
            </a:avLst>
          </a:prstGeom>
          <a:solidFill>
            <a:srgbClr val="0A563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434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 (Perfis de Uso)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93776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de Operações — registro de ocorrências em campo.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— análise, aprovação e acompanhamento de indicadores.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— configuração do sistema, usuários e formulários.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Visualizador — perfil de consulta (somente leitura).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394960" cy="365760"/>
          </a:xfrm>
          <a:prstGeom prst="roundRect">
            <a:avLst>
              <a:gd name="adj" fmla="val 12500"/>
            </a:avLst>
          </a:prstGeom>
          <a:solidFill>
            <a:srgbClr val="0A5636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Esperados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2200" y="2103120"/>
            <a:ext cx="53949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retrabalho e de erros de preenchimento manual.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do processo de aprovação com evidência documental.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total: quem fez o quê, quando e por quê.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automática de relatórios (PDF/Excel) e comunicação por e-mail.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histórica consultável, exportável e auditável.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tempo entre a identificação da ocorrência e sua formalização.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da Arquitetura da Aplicação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8F5EF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 de Apresentação (Frontend)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12140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 + React 19 + TypeScript, renderização client-side, Tailwind CSS v4, Radix UI e Framer Motion.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06440" y="25877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7A4B"/>
                </a:solidFill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1576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944368"/>
            <a:ext cx="457200" cy="457200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282549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 de Aplicação e Estado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145536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Context (autenticação e perfil), módulos utilitários (formulários, PDF, Excel), assinaturas em tempo real (onSnapshot).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06440" y="3611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7A4B"/>
                </a:solidFill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3989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8F5EF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968496"/>
            <a:ext cx="457200" cy="457200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38496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as a Service — Firebase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4169664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(login/senha), Cloud Firestore (banco NoSQL em tempo real) e Cloud Storage (arquivos e anexos).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46360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7A4B"/>
                </a:solidFill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76402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992624"/>
            <a:ext cx="457200" cy="457200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992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17320" y="48737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Infraestrutura e Hospedagem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519379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publicado na Vercel (fluxocriticos.vercel.app); dados, autenticação e arquivos hospedados no Google Firebase.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serverless / BaaS: sem servidor de aplicação próprio — a lógica de acesso é reforçada por regras de segurança (Firestore Rules e Storage Rules) aplicadas diretamente no backend gerenciado.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Organização de Pastas e Stack Tecnológico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65760"/>
          </a:xfrm>
          <a:prstGeom prst="roundRect">
            <a:avLst>
              <a:gd name="adj" fmla="val 12500"/>
            </a:avLst>
          </a:prstGeom>
          <a:solidFill>
            <a:srgbClr val="0A563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de Pastas (src/)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94960" cy="3840480"/>
          </a:xfrm>
          <a:prstGeom prst="roundRect">
            <a:avLst>
              <a:gd name="adj" fmla="val 1429"/>
            </a:avLst>
          </a:prstGeom>
          <a:solidFill>
            <a:srgbClr val="F7F9F8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(auth)/  login, signup, forgot-password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(dashboard)/  dashboard, records, records/new,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approvals, users, forms, audit,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sharepoint, email, profile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api/download/  proxy seguro de anexos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ui/  30+ componentes de interface reutilizáveis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layout/  sidebar, topbar, busca, notificações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records/  importação Excel, linha de registro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email/  modelo de relatório em HTML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firebase.ts, auth-context.tsx,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firestore-helpers.ts, forms.ts, pdf.ts,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excel-export.ts, utils.ts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types/  index.ts — tipos TypeScript compartilhados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94960" cy="365760"/>
          </a:xfrm>
          <a:prstGeom prst="roundRect">
            <a:avLst>
              <a:gd name="adj" fmla="val 12500"/>
            </a:avLst>
          </a:prstGeom>
          <a:solidFill>
            <a:srgbClr val="0A5636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 por Camada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72200" y="210312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Next.js 16 (App Router), React 19, TypeScript 5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Estilo: Tailwind CSS v4 com tokens de tema (paleta institucional)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Componentes: Radix UI (dialog, select, dropdown, switch...) e cmdk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Ícones e animação: lucide-react e Framer Motion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Gráficos: Recharts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Documentos: jsPDF + jspdf-autotable, ExcelJS, xlsx (SheetJS), JSZip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de UI: Sonner (toasts)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Testes: Playwright (E2E) + GitHub Actions (CI)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de Dados em Tempo Real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636776"/>
            <a:ext cx="10515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assina as coleções do Firestore via onSnapshot (registros, aprovações, usuários, logs, notificações) — qualquer alteração no banco reflete automaticamente na tela, sem necessidade de atualizar a página.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365760" cy="365760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395728"/>
            <a:ext cx="10515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formulário "Novo Registro" grava o rascunho no Firestore a cada 800ms de inatividade (debounce) e mantém uma cópia local no navegador como proteção contra perda de conexão.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09544"/>
            <a:ext cx="365760" cy="365760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09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3154680"/>
            <a:ext cx="10515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numeração sequencial do registro é gerada por transação atômica no documento settings/counter_{ano}, evitando duplicidade mesmo com múltiplos usuários simultâneos.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365760" cy="365760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913632"/>
            <a:ext cx="10515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enviar, o sistema grava o registro, cria o documento de aprovação, registra o log de auditoria e dispara notificações para Administradores e Gerentes, em sequência coordenada.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27448"/>
            <a:ext cx="365760" cy="365760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672584"/>
            <a:ext cx="10515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de anexos usam o Firebase Storage (upload retomável) com barra de progresso; a URL é salva no registro assim que o envio é concluído.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486400"/>
            <a:ext cx="365760" cy="365760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5431536"/>
            <a:ext cx="10515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de anexos (e-mail/zip) passam por uma rota própria (/api/download), restrita ao domínio do Firebase Storage, evitando uso indevido como proxy aberto.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de Dados (Cloud Firestore) — Visão Geral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76200" dist="25400" dir="5400000" algn="bl" rotWithShape="0">
              <a:srgbClr val="9CA3A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56232"/>
            <a:ext cx="2368296" cy="329184"/>
          </a:xfrm>
          <a:prstGeom prst="roundRect">
            <a:avLst>
              <a:gd name="adj" fmla="val 13889"/>
            </a:avLst>
          </a:prstGeom>
          <a:solidFill>
            <a:srgbClr val="0A563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56232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295144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de usuário, função (role) e status de acesso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76200" dist="25400" dir="5400000" algn="bl" rotWithShape="0">
              <a:srgbClr val="9CA3AF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47872" y="1856232"/>
            <a:ext cx="2368296" cy="329184"/>
          </a:xfrm>
          <a:prstGeom prst="roundRect">
            <a:avLst>
              <a:gd name="adj" fmla="val 13889"/>
            </a:avLst>
          </a:prstGeom>
          <a:solidFill>
            <a:srgbClr val="0A5636"/>
          </a:solidFill>
          <a:ln/>
        </p:spPr>
      </p:sp>
      <p:sp>
        <p:nvSpPr>
          <p:cNvPr id="10" name="Text 8"/>
          <p:cNvSpPr/>
          <p:nvPr/>
        </p:nvSpPr>
        <p:spPr>
          <a:xfrm>
            <a:off x="3547872" y="1856232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66160" y="2295144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do fluxo — dados dinâmicos do formulário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76200" dist="25400" dir="5400000" algn="bl" rotWithShape="0">
              <a:srgbClr val="9CA3AF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82512" y="1856232"/>
            <a:ext cx="2368296" cy="329184"/>
          </a:xfrm>
          <a:prstGeom prst="roundRect">
            <a:avLst>
              <a:gd name="adj" fmla="val 13889"/>
            </a:avLst>
          </a:prstGeom>
          <a:solidFill>
            <a:srgbClr val="0A5636"/>
          </a:solidFill>
          <a:ln/>
        </p:spPr>
      </p:sp>
      <p:sp>
        <p:nvSpPr>
          <p:cNvPr id="14" name="Text 12"/>
          <p:cNvSpPr/>
          <p:nvPr/>
        </p:nvSpPr>
        <p:spPr>
          <a:xfrm>
            <a:off x="6382512" y="1856232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0" y="2295144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aprovação vinculadas a cada registro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52560" y="169164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76200" dist="25400" dir="5400000" algn="bl" rotWithShape="0">
              <a:srgbClr val="9CA3AF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17152" y="1856232"/>
            <a:ext cx="2368296" cy="329184"/>
          </a:xfrm>
          <a:prstGeom prst="roundRect">
            <a:avLst>
              <a:gd name="adj" fmla="val 13889"/>
            </a:avLst>
          </a:prstGeom>
          <a:solidFill>
            <a:srgbClr val="0A5636"/>
          </a:solidFill>
          <a:ln/>
        </p:spPr>
      </p:sp>
      <p:sp>
        <p:nvSpPr>
          <p:cNvPr id="18" name="Text 16"/>
          <p:cNvSpPr/>
          <p:nvPr/>
        </p:nvSpPr>
        <p:spPr>
          <a:xfrm>
            <a:off x="9217152" y="1856232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formFields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235440" y="2295144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dinâmica dos campos do formulário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76200" dist="25400" dir="5400000" algn="bl" rotWithShape="0">
              <a:srgbClr val="9CA3AF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3913632"/>
            <a:ext cx="2368296" cy="329184"/>
          </a:xfrm>
          <a:prstGeom prst="roundRect">
            <a:avLst>
              <a:gd name="adj" fmla="val 13889"/>
            </a:avLst>
          </a:prstGeom>
          <a:solidFill>
            <a:srgbClr val="0A5636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913632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4352544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auditoria imutável (somente criação)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374904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76200" dist="25400" dir="5400000" algn="bl" rotWithShape="0">
              <a:srgbClr val="9CA3AF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47872" y="3913632"/>
            <a:ext cx="2368296" cy="329184"/>
          </a:xfrm>
          <a:prstGeom prst="roundRect">
            <a:avLst>
              <a:gd name="adj" fmla="val 13889"/>
            </a:avLst>
          </a:prstGeom>
          <a:solidFill>
            <a:srgbClr val="0A5636"/>
          </a:solidFill>
          <a:ln/>
        </p:spPr>
      </p:sp>
      <p:sp>
        <p:nvSpPr>
          <p:cNvPr id="26" name="Text 24"/>
          <p:cNvSpPr/>
          <p:nvPr/>
        </p:nvSpPr>
        <p:spPr>
          <a:xfrm>
            <a:off x="3547872" y="3913632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emailLogs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566160" y="4352544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relatórios enviados por e-mail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374904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76200" dist="25400" dir="5400000" algn="bl" rotWithShape="0">
              <a:srgbClr val="9CA3AF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82512" y="3913632"/>
            <a:ext cx="2368296" cy="329184"/>
          </a:xfrm>
          <a:prstGeom prst="roundRect">
            <a:avLst>
              <a:gd name="adj" fmla="val 13889"/>
            </a:avLst>
          </a:prstGeom>
          <a:solidFill>
            <a:srgbClr val="0A5636"/>
          </a:solidFill>
          <a:ln/>
        </p:spPr>
      </p:sp>
      <p:sp>
        <p:nvSpPr>
          <p:cNvPr id="30" name="Text 28"/>
          <p:cNvSpPr/>
          <p:nvPr/>
        </p:nvSpPr>
        <p:spPr>
          <a:xfrm>
            <a:off x="6382512" y="3913632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0" y="4352544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individuais por usuário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52560" y="374904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76200" dist="25400" dir="5400000" algn="bl" rotWithShape="0">
              <a:srgbClr val="9CA3AF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217152" y="3913632"/>
            <a:ext cx="2368296" cy="329184"/>
          </a:xfrm>
          <a:prstGeom prst="roundRect">
            <a:avLst>
              <a:gd name="adj" fmla="val 13889"/>
            </a:avLst>
          </a:prstGeom>
          <a:solidFill>
            <a:srgbClr val="0A5636"/>
          </a:solidFill>
          <a:ln/>
        </p:spPr>
      </p:sp>
      <p:sp>
        <p:nvSpPr>
          <p:cNvPr id="34" name="Text 32"/>
          <p:cNvSpPr/>
          <p:nvPr/>
        </p:nvSpPr>
        <p:spPr>
          <a:xfrm>
            <a:off x="9217152" y="3913632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235440" y="4352544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Contadores de numeração, dashboard e SharePoint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 e Hospedagem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65760"/>
          </a:xfrm>
          <a:prstGeom prst="roundRect">
            <a:avLst>
              <a:gd name="adj" fmla="val 12500"/>
            </a:avLst>
          </a:prstGeom>
          <a:solidFill>
            <a:srgbClr val="0A563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 com login por e-mail e senha.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(signup) cria automaticamente o perfil no Firestore com a função inicial "Visualizador" (privilégio mínimo).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de senha por e-mail (fluxo nativo do Firebase).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de senha exige reautenticação da sessão atual antes de aceitar a nova senha.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monitorada continuamente; a função (role) do usuário é sincronizada em tempo real.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de rota: usuário não autenticado é redirecionado ao login; acesso fora da função do usuário redireciona ao Dashboard.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394960" cy="365760"/>
          </a:xfrm>
          <a:prstGeom prst="roundRect">
            <a:avLst>
              <a:gd name="adj" fmla="val 12500"/>
            </a:avLst>
          </a:prstGeom>
          <a:solidFill>
            <a:srgbClr val="0A5636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 e Operação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72200" y="210312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(Next.js) publicado na Vercel — domínio fluxocriticos.vercel.app.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dados, autenticação e arquivos hospedados no Google Firebase.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Cabeçalhos de segurança HTTP aplicados a toda a aplicação (Content-Security-Policy, HSTS, X-Frame-Options e outros).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integração contínua via GitHub Actions, executando os testes automatizados a cada alteração de código.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0" y="4114800"/>
            <a:ext cx="365760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88900" dist="25400" dir="5400000" algn="bl" rotWithShape="0">
              <a:srgbClr val="9CA3AF">
                <a:alpha val="35000"/>
              </a:srgbClr>
            </a:outerShdw>
          </a:effectLst>
        </p:spPr>
      </p:sp>
      <p:pic>
        <p:nvPicPr>
          <p:cNvPr id="11" name="Image 0" descr="/sessions/elegant-intelligent-einstein/mnt/outputs/imgs/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4160520"/>
            <a:ext cx="3566160" cy="21945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Executivo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Cartões de indicadores configuráveis: Total de Registros, Pendentes de Aprovação, Finalizados (Aprovados), Rejeitados e Em Andamento.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interativos (Recharts): registros por período, distribuição por status (gráfico de rosca) e registros por gerência, instalação, sistema e responsável (barras horizontais, top 10).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exclusiva do Administrador: escolha de quais cartões e gráficos ficam visíveis, com preferência salva para todo o sistema.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combináveis: gerência, instalação, sistema, equipamento, responsável, status, ano, mês e intervalo de datas.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de "Últimos Registros" e "Pendências" com atualização em tempo real.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rascunhos (lixeira), visível apenas ao Administrador, com exclusão de rascunhos não enviados.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432304" y="4251960"/>
            <a:ext cx="3511296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88900" dist="25400" dir="5400000" algn="bl" rotWithShape="0">
              <a:srgbClr val="9CA3AF">
                <a:alpha val="35000"/>
              </a:srgbClr>
            </a:outerShdw>
          </a:effectLst>
        </p:spPr>
      </p:sp>
      <p:pic>
        <p:nvPicPr>
          <p:cNvPr id="6" name="Image 0" descr="/sessions/elegant-intelligent-einstein/mnt/outputs/imgs/dashboar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024" y="4297680"/>
            <a:ext cx="3419856" cy="2103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4251960"/>
            <a:ext cx="3511296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88900" dist="25400" dir="5400000" algn="bl" rotWithShape="0">
              <a:srgbClr val="9CA3AF">
                <a:alpha val="35000"/>
              </a:srgbClr>
            </a:outerShdw>
          </a:effectLst>
        </p:spPr>
      </p:sp>
      <p:pic>
        <p:nvPicPr>
          <p:cNvPr id="8" name="Image 1" descr="/sessions/elegant-intelligent-einstein/mnt/outputs/imgs/dashboar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297680"/>
            <a:ext cx="3419856" cy="2103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Novo Registro — Formulário Dinâmico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100% dinâmico, renderizado a partir de uma definição salva no banco — sem necessidade de alteração de código para adicionar ou remover campos.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campo suportados: texto, número, data, hora, seleção única, múltipla escolha, checkbox, radio, textarea, upload de arquivo, e-mail e telefone.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condicionais: opções de um campo variam conforme o valor selecionado em outro campo (ex.: opções filtradas por instalação selecionada).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Máscaras de entrada e validação por expressão regular configuráveis por campo.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Numeração sequencial automática (NN/AAAA) ou numeração manual, exclusiva do Administrador.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Salvamento automático de rascunho a cada 800ms (banco de dados + backup local no navegador), evitando perda de dados.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anexos por arraste-e-solte, com barra de progresso individual por arquivo.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enviar: grava o registro como "Pendente", cria a aprovação correspondente, registra o log de auditoria e notifica Administradores e Gerentes.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0"/>
            <a:ext cx="4233672" cy="2646274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88900" dist="25400" dir="5400000" algn="bl" rotWithShape="0">
              <a:srgbClr val="9CA3AF">
                <a:alpha val="35000"/>
              </a:srgbClr>
            </a:outerShdw>
          </a:effectLst>
        </p:spPr>
      </p:sp>
      <p:pic>
        <p:nvPicPr>
          <p:cNvPr id="6" name="Image 0" descr="/sessions/elegant-intelligent-einstein/mnt/outputs/imgs/regis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74520"/>
            <a:ext cx="4142232" cy="2554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Histórico de Registros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Abas "Ativos" e "Removidos" (lixeira lógica), com opções de restaurar ou excluir permanentemente — esta última exclusiva do Administrador.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textual e filtros combináveis: status, responsável, gerência, instalação, sistema, equipamento e período.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Ordenação por qualquer coluna, paginação e alternância de densidade (compacta/confortável).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por registro: visualizar, editar (conforme permissão), duplicar, baixar PDF individual, excluir e restaurar.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múltipla com exclusão em massa (Administrador/Gerente).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Renumeração geral de IDs: reordena e renumera sequencialmente todos os registros por data de criação — ação administrativa registrada em auditoria.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detalhe: campos preenchidos, galeria de anexos/fotos, "Atualizações do Fluxo" e linha do tempo de auditoria do registro.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0"/>
            <a:ext cx="4233672" cy="2646274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88900" dist="25400" dir="5400000" algn="bl" rotWithShape="0">
              <a:srgbClr val="9CA3AF">
                <a:alpha val="35000"/>
              </a:srgbClr>
            </a:outerShdw>
          </a:effectLst>
        </p:spPr>
      </p:sp>
      <p:pic>
        <p:nvPicPr>
          <p:cNvPr id="6" name="Image 0" descr="/sessions/elegant-intelligent-einstein/mnt/outputs/imgs/histor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74520"/>
            <a:ext cx="4142232" cy="2554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Importação e Exportação de Dados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65760"/>
          </a:xfrm>
          <a:prstGeom prst="roundRect">
            <a:avLst>
              <a:gd name="adj" fmla="val 12500"/>
            </a:avLst>
          </a:prstGeom>
          <a:solidFill>
            <a:srgbClr val="0A563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(Excel)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arquivos .xlsx/.xls diretamente no navegador.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manual de colunas com auto-detecção de cabeçalhos (ID, Instalação, Sistema, Equipamento, Gerência, Responsável).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IDs duplicados antes da importação.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em lote, com numeração sequencial automática para cada linha.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 de excluir por completo um lote importado (reversão da importação).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394960" cy="365760"/>
          </a:xfrm>
          <a:prstGeom prst="roundRect">
            <a:avLst>
              <a:gd name="adj" fmla="val 12500"/>
            </a:avLst>
          </a:prstGeom>
          <a:solidFill>
            <a:srgbClr val="0A5636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(Excel e PDF)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72200" y="210312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Excel: planilha formatada com título, data/autor da exportação, cabeçalho colorido, cores por status, congelamento de painel, filtro automático e logotipos institucionais.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PDF: relatório individual do registro (cabeçalho, dados gerais, ocorrência, anexos e rodapé com data/responsável/paginação) ou tabela consolidada do histórico filtrado.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de imagens anexadas em lote (arquivo único ou pacote .zip) por meio de rota de download segura.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Aprovações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aprovações pendentes, visível apenas para os perfis Administrador e Gerente.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de cada item exibe os campos preenchidos do registro, os anexos e o histórico de auditoria daquela ocorrência.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decisões possíveis: Aprovar, Rejeitar ou Solicitar Reajuste — todas com campo de comentário opcional.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em lote: seleção múltipla de registros pendentes com aprovação em massa.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decisão atualiza o status do registro e da aprovação, grava o log de auditoria e notifica automaticamente o autor do registro.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marcados como "Aguardando Reajuste" retornam ao autor (Técnico) para correção e reenvio ao fluxo de aprovação.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0"/>
            <a:ext cx="4233672" cy="2646274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88900" dist="25400" dir="5400000" algn="bl" rotWithShape="0">
              <a:srgbClr val="9CA3AF">
                <a:alpha val="35000"/>
              </a:srgbClr>
            </a:outerShdw>
          </a:effectLst>
        </p:spPr>
      </p:sp>
      <p:pic>
        <p:nvPicPr>
          <p:cNvPr id="6" name="Image 0" descr="/sessions/elegant-intelligent-einstein/mnt/outputs/imgs/aprovaco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74520"/>
            <a:ext cx="4142232" cy="2554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Usuários e Perfis de Acesso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exclusiva do Administrador: listagem de usuários com busca por nome/e-mail e filtro por função.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de função (role) diretamente na listagem, com gravação automática no log de auditoria (função anterior → nova função).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Exibição de avatar, e-mail, último acesso e status (ativo/inativo).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0" y="1600200"/>
            <a:ext cx="4233672" cy="2646274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88900" dist="25400" dir="5400000" algn="bl" rotWithShape="0">
              <a:srgbClr val="9CA3AF">
                <a:alpha val="35000"/>
              </a:srgbClr>
            </a:outerShdw>
          </a:effectLst>
        </p:spPr>
      </p:sp>
      <p:pic>
        <p:nvPicPr>
          <p:cNvPr id="6" name="Image 0" descr="/sessions/elegant-intelligent-einstein/mnt/outputs/imgs/usu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9" y="1375422"/>
            <a:ext cx="4708297" cy="290397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64240" cy="192024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Principais Permissões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 completo: usuários, formulários, SharePoint, numeração manual, exclusão permanente e renumeração geral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Aprovação de registros, gestão de formulários e acesso à maior parte dos módulos (exceto Usuários e SharePoint)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Técnico de Operações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Criação de registros e edição apenas dos próprios registros em rascunho ou pendente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 somente leitura (Dashboard, Histórico, Perfil e Auditoria)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Construtor de Formulários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administração dos campos exibidos na tela "Novo Registro" (Administrador e Gerente).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Adição, edição, duplicação, exclusão e reordenação de campos por arraste-e-solte.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por campo: rótulo, placeholder, texto de ajuda, máscara, validação (expressão regular), obrigatoriedade e opções (para seleção/múltipla escolha/radio).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dependentes: opções de um campo filtradas dinamicamente pelo valor selecionado em um campo "pai".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pré-visualização em tempo real, refletindo exatamente como o formulário aparecerá para o usuário final.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atualizações do formulário, com registro livre de observações sobre mudanças de processo.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campos padrão pré-configurado na primeira utilização: Instalação, Sistema, Equipamento, Tipo de Equipamento, Gerência, Data, Situação Identificada e Upload de Arquivos.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0"/>
            <a:ext cx="4233672" cy="2646274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88900" dist="25400" dir="5400000" algn="bl" rotWithShape="0">
              <a:srgbClr val="9CA3AF">
                <a:alpha val="35000"/>
              </a:srgbClr>
            </a:outerShdw>
          </a:effectLst>
        </p:spPr>
      </p:sp>
      <p:pic>
        <p:nvPicPr>
          <p:cNvPr id="6" name="Image 0" descr="/sessions/elegant-intelligent-einstein/mnt/outputs/imgs/formul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74520"/>
            <a:ext cx="4142232" cy="2554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de Auditoria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imutável — somente criação, sem edição ou exclusão possível, inclusive por regra do banco de dados — de toda ação relevante do sistema.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registrados: login, logout, criação, aprovação, rejeição, solicitação de reajuste, edição, exclusão (lixeira), exclusão permanente, restauração, renumeração geral, atualização de fluxo e alteração de função de usuário, entre outros.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entrada guarda: data/hora, usuário, perfil, ação, número do fluxo, documento, status anterior/novo e observação.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usuário, tipo de ação, número do fluxo, status e período, além de busca textual livre.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paginada e também disponível de forma contextual (linha do tempo) dentro de cada registro e de cada aprovação.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0" y="1783080"/>
            <a:ext cx="4233672" cy="2646274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88900" dist="25400" dir="5400000" algn="bl" rotWithShape="0">
              <a:srgbClr val="9CA3AF">
                <a:alpha val="35000"/>
              </a:srgbClr>
            </a:outerShdw>
          </a:effectLst>
        </p:spPr>
      </p:sp>
      <p:pic>
        <p:nvPicPr>
          <p:cNvPr id="6" name="Image 0" descr="/sessions/elegant-intelligent-einstein/mnt/outputs/imgs/auditor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28800"/>
            <a:ext cx="4142232" cy="2554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Integração com SharePoint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configuração exclusiva do Administrador para registrar a URL do site SharePoint da organização.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status da integração ("Conectado" / "Não configurado").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preparada na interface para exibição de "Arquivos recentes" sincronizados do SharePoint.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 atual: cadastro e persistência da URL de integração; a sincronização automática de arquivos está estruturada na interface como próxima evolução do módulo.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Envio de Relatórios por E-mail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qualquer registro já submetido, com busca por número, instalação, sistema, equipamento, responsável ou status.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automática do assunto padronizado do e-mail a partir dos dados do registro.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em HTML com identidade visual institucional (Petrobras / Normatel), campos do registro em cartões e galeria de imagens anexadas.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"Para" e "Cc" com sugestão automática de e-mails a partir da base de usuários cadastrados.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via Outlook: o relatório é copiado para a área de transferência e o cliente de e-mail padrão é aberto, preservando a formatação para colagem no corpo da mensagem.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das imagens do registro em lote (arquivo único ou pacote .zip) por rota de download segura.</a:t>
            </a:r>
            <a:endParaRPr lang="en-US" sz="10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envio é registrado no histórico de e-mails, com consulta restrita a Administrador e Gerente.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0"/>
            <a:ext cx="4233672" cy="2646274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88900" dist="25400" dir="5400000" algn="bl" rotWithShape="0">
              <a:srgbClr val="9CA3AF">
                <a:alpha val="35000"/>
              </a:srgbClr>
            </a:outerShdw>
          </a:effectLst>
        </p:spPr>
      </p:sp>
      <p:pic>
        <p:nvPicPr>
          <p:cNvPr id="6" name="Image 0" descr="/sessions/elegant-intelligent-einstein/mnt/outputs/imgs/e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874520"/>
            <a:ext cx="4142232" cy="2554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Meu Perfil, Busca Global e Notificações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38728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76200" dist="25400" dir="5400000" algn="bl" rotWithShape="0">
              <a:srgbClr val="9CA3A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Meu Perfil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de nome e departamento, upload de foto de perfil e alteração de senha com reautenticação da sessão atual.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06824" y="1828800"/>
            <a:ext cx="3538728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76200" dist="25400" dir="5400000" algn="bl" rotWithShape="0">
              <a:srgbClr val="9CA3AF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81144" y="2103120"/>
            <a:ext cx="457200" cy="457200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1144" y="274320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Global (Ctrl/Cmd+K)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81144" y="333756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 comandos com busca universal por páginas do sistema e por registros (número, responsável, instalação, sistema, equipamento), respeitando as permissões do usuário.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65008" y="1828800"/>
            <a:ext cx="3538728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76200" dist="25400" dir="5400000" algn="bl" rotWithShape="0">
              <a:srgbClr val="9CA3AF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9328" y="2103120"/>
            <a:ext cx="457200" cy="457200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39328" y="274320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Notificações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9328" y="333756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 de notificações em tempo real por usuário (aprovação pendente, aprovado, rejeitado, reajuste solicitado), com contagem de não lidas e marcação individual ou em massa.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DO SISTEMA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Jornada Completa do Registro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E8F5EF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56232"/>
            <a:ext cx="384048" cy="384048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2350008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743200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por e-mail/senha; carregamento do perfil e da função do usuário.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5468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7A4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E8F5EF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1856232"/>
            <a:ext cx="384048" cy="384048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12" name="Text 10"/>
          <p:cNvSpPr/>
          <p:nvPr/>
        </p:nvSpPr>
        <p:spPr>
          <a:xfrm>
            <a:off x="3502152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02152" y="2350008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Criação de Registro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02152" y="2743200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Preenchimento do formulário dinâmico "Novo Registro".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7A4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6480" y="1691640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E8F5EF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1856232"/>
            <a:ext cx="384048" cy="384048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91072" y="2350008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Salvamento de Rascunho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91072" y="2743200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Autosave contínuo; o registro permanece como "Rascunho" até o envio.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73252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7A4B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915400" y="1691640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E8F5EF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79992" y="1856232"/>
            <a:ext cx="384048" cy="384048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24" name="Text 22"/>
          <p:cNvSpPr/>
          <p:nvPr/>
        </p:nvSpPr>
        <p:spPr>
          <a:xfrm>
            <a:off x="9079992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79992" y="2350008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Envio para Aprovação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79992" y="2743200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muda para "Pendente"; numeração é atribuída e notificações são disparadas.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886200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4050792"/>
            <a:ext cx="384048" cy="384048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13232" y="4544568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Edição / Reajuste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3232" y="4937760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caso de reajuste solicitado, o autor corrige e reenvia o registro.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15468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7A4B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337560" y="3886200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02152" y="4050792"/>
            <a:ext cx="384048" cy="384048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35" name="Text 33"/>
          <p:cNvSpPr/>
          <p:nvPr/>
        </p:nvSpPr>
        <p:spPr>
          <a:xfrm>
            <a:off x="3502152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502152" y="4544568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Aprovação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502152" y="4937760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Administrador/Gerente decide: Aprovado, Rejeitado ou Reajuste, com comentário opcional.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4360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7A4B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26480" y="3886200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91072" y="4050792"/>
            <a:ext cx="384048" cy="384048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41" name="Text 39"/>
          <p:cNvSpPr/>
          <p:nvPr/>
        </p:nvSpPr>
        <p:spPr>
          <a:xfrm>
            <a:off x="6291072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291072" y="4544568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 no Histórico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291072" y="4937760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decidido fica disponível para consulta com trilha de auditoria completa.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73252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7A4B"/>
                </a:solidFill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915400" y="3886200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79992" y="4050792"/>
            <a:ext cx="384048" cy="384048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47" name="Text 45"/>
          <p:cNvSpPr/>
          <p:nvPr/>
        </p:nvSpPr>
        <p:spPr>
          <a:xfrm>
            <a:off x="9079992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9079992" y="4544568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Exportação e Encerramento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079992" y="4937760"/>
            <a:ext cx="2295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PDF/Excel, envio por e-mail e, se necessário, exclusão lógica com possibilidade de restauração.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Coleções e Relacionamentos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Principais Campos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Relacionamento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name, email, role, department,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Referenciada por records, approvals e logs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recordNumber, status, authorId, data{}, attachments[]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 com approvals (mesmo ID); N:1 com users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records/{id}/updates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authorName, createdAt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Subcoleção — andamento de um registro específico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recordId, status, reviewerId, comment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 com records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formFields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fields[] (schema dinâmico)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 estrutura de data{} em records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action, actorId, recordId, statusBefore/After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Referencia records e users — somente criação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emailLogs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recordId, to, subject, message, senderId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Referencia records e users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userId, type, recordId, read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Referencia users e records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counter_{ano}, dashboardConfig, sharepoint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Configurações e contadores globais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 de Armazenamento e Integridade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NoSQL orientado a documentos (Cloud Firestore), com sincronização em tempo real em todas as telas críticas.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dinâmicos do registro armazenados em um objeto de dados conforme o schema definido no construtor de formulários, permitindo evolução do formulário sem migração de banco.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Sanitização de dados antes de cada gravação (remoção de valores vazios/indefinidos, exigência do Firestore) por meio de função utilitária centralizada.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Numeração sequencial gerada por transação atômica, com mecanismo de contingência (numeração alternativa por data/hora) caso o contador esteja indisponível.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lógica (soft delete) como padrão para registros — os dados são preservados e podem ser restaurados; a exclusão física é restrita ao Administrador.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(anexos e avatares) armazenados no Firebase Storage, organizados por usuário e registro, com limite de 20MB e tipos de arquivo controlados por regra de segurança.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 e Controle de Acesso (RBAC)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Aprovações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Usuários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/ editar / excluir*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e editar os próprios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Somente leitura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exclusão permanente restrita ao Administrador.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44348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 aplicado em duas camadas: (1) interface — menus e rotas ocultos conforme a função; (2) banco de dados — regras do Firestore reforçam as mesmas restrições diretamente no servidor, impedindo contorno por chamadas diretas à API.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Proteção de Dados e Validações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segurança do Firestore validam, para cada coleção, quem pode ler, criar, atualizar ou excluir — inclusive impedindo que um Técnico altere registros de outro autor ou já aprovados.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do Cloud Storage restringem upload a arquivos do próprio usuário, com limite de 20MB e tipos permitidos (imagens, PDF, Word e Excel).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auditoria com regra de "somente criação": nenhuma entrada pode ser editada ou apagada, garantindo a integridade da trilha de auditoria.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Cabeçalhos de segurança HTTP: Content-Security-Policy restrita a domínios confiáveis, HSTS, X-Frame-Options, X-Content-Type-Options e Permissions-Policy.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de download de anexos validada por lista de domínios permitidos, evitando uso da aplicação como proxy aberto.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formulário no cliente (campos obrigatórios e expressões regulares configuráveis), combinada à sanitização de dados antes da gravação.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de senha exige reautenticação da sessão atual antes de aceitar a nova senha.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UX/UI e Identidade Visual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 construída sobre uma paleta verde institucional, aplicada de forma consistente em botões, gráficos, PDFs e planilhas exportadas.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Componentização com Radix UI e Tailwind CSS v4, garantindo acessibilidade de base (foco, contraste, navegação por teclado) e consistência entre telas.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Micro-interações e transições suaves (abertura de menus, cartões do dashboard, sidebar).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responsivo: sidebar retrátil (compacta/expandida) e menu lateral em painel sobreposto para dispositivos móveis; grades adaptáveis conforme o tamanho de tela.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organizada por grupos colapsáveis (Registros, Administração, Integrações, Conta), com visibilidade ajustada conforme a função do usuário.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 carregamento, estados vazios e notificações rápidas (toasts) padronizados em todas as telas.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 comandos (Ctrl/Cmd+K) como camada adicional de navegação rápida, reduzindo a curva de aprendizado.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Diferenciais do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76200" dist="25400" dir="5400000" algn="bl" rotWithShape="0">
              <a:srgbClr val="9CA3A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74520"/>
            <a:ext cx="365760" cy="365760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500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Automação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7706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Numeração, notificações e relatórios gerados sem intervenção manual.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76200" dist="25400" dir="5400000" algn="bl" rotWithShape="0">
              <a:srgbClr val="9CA3AF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874520"/>
            <a:ext cx="365760" cy="365760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23500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Rastreabilidade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7706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ação vinculada a usuário, perfil, data/hora e status.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76200" dist="25400" dir="5400000" algn="bl" rotWithShape="0">
              <a:srgbClr val="9CA3AF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874520"/>
            <a:ext cx="365760" cy="365760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23500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Auditoria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27706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imutável, consultável globalmente e por registro.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76200" dist="25400" dir="5400000" algn="bl" rotWithShape="0">
              <a:srgbClr val="9CA3AF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440" y="1874520"/>
            <a:ext cx="365760" cy="365760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35440" y="23500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Centralização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35440" y="27706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aprovação, histórico, formulários e e-mail em um só lugar.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76200" dist="25400" dir="5400000" algn="bl" rotWithShape="0">
              <a:srgbClr val="9CA3AF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1520" y="4407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Redução de Retrabalho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1520" y="48280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dinâmico, autosave e validações eliminam perdas.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83280" y="374904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76200" dist="25400" dir="5400000" algn="bl" rotWithShape="0">
              <a:srgbClr val="9CA3AF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66160" y="3931920"/>
            <a:ext cx="365760" cy="365760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566160" y="4407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Padronização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8280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e formulário únicos, configuráveis sem alterar código.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374904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76200" dist="25400" dir="5400000" algn="bl" rotWithShape="0">
              <a:srgbClr val="9CA3AF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3931920"/>
            <a:ext cx="365760" cy="365760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00800" y="4407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Escalabilidade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00800" y="48280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serverless (Firebase + Vercel) escala automaticamente.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052560" y="374904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6E2"/>
            </a:solidFill>
            <a:prstDash val="solid"/>
          </a:ln>
          <a:effectLst>
            <a:outerShdw blurRad="76200" dist="25400" dir="5400000" algn="bl" rotWithShape="0">
              <a:srgbClr val="9CA3AF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235440" y="3931920"/>
            <a:ext cx="365760" cy="365760"/>
          </a:xfrm>
          <a:prstGeom prst="ellipse">
            <a:avLst/>
          </a:prstGeom>
          <a:solidFill>
            <a:srgbClr val="0E7A4B"/>
          </a:solidFill>
          <a:ln/>
        </p:spPr>
      </p:sp>
      <p:sp>
        <p:nvSpPr>
          <p:cNvPr id="41" name="Text 39"/>
          <p:cNvSpPr/>
          <p:nvPr/>
        </p:nvSpPr>
        <p:spPr>
          <a:xfrm>
            <a:off x="923544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235440" y="4407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Facilidade de Uso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235440" y="48280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responsiva e busca global reduzem a necessidade de treinamento.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Tecnologias Utilizadas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349240" cy="9144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16 / React 19 / TypeScript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e linguagem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 de páginas, rotas e componentes tipados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 v4 + Radix 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Estilo e componentes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Utilitários CSS, tema institucional e componentes acessíveis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Framer Motion / lucide-react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Animação e ícones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Transições de interface e iconografia padronizada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Visualização de dados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Gráficos do Dashboard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cmdk / Sonner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utilitária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Paleta de comandos (busca global) e notificações rápidas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Authentication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cadastro, recuperação e troca de senha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Firestore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 de dados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Armazenamento e sincronização em tempo real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1554480"/>
          <a:ext cx="5349240" cy="9144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Armazenamento de arquivos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Anexos de registros e fotos de perfil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jsPDF + jspdf-autotable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Geração de documentos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Exportação de registros e relatórios em PDF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ExcelJS / xlsx (SheetJS)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Planilhas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Exportação (ExcelJS) e importação (xlsx) de registros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JSZip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em lote de imagens anexadas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 / GitHub 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Qualidade e CI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Testes automatizados end-to-end a cada alteração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/ Google Firebase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Hospedagem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Publicação do frontend e hospedagem do backend (BaaS)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 Indicadores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0A563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190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3591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de acesso (RBAC)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6459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0A5636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7190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29000" y="23591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Coleções no banco de dados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0A5636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7190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23591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campo no formulário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15400" y="16459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0A5636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7190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06840" y="23591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funcionais entregues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11064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resolvidos: eliminação de controles paralelos em planilhas e e-mails avulsos; fluxo de aprovação sem padrão nem evidência centralizada.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para os usuários: preenchimento guiado com autosave e validações; visibilidade do andamento do próprio registro via notificações.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para a empresa: padronização do processo entre gerências, instalações e sistemas; trilha de auditoria pronta para consulta e conformidade.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nativos do Dashboard: totais por status, distribuição por período, gerência, instalação, sistema e responsável.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operacional: menor tempo entre a identificação da ocorrência e sua formalização; decisões de aprovação concentradas em uma única fila de trabalho.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 FUTURAS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Evoluções Possíveis do Sistema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Concluir a sincronização automática de arquivos do SharePoint — hoje o módulo registra apenas a URL do site; a listagem de arquivos já está preparada na interface.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Evoluir o envio de e-mail do fluxo manual atual (cópia + Outlook local) para um serviço de envio automatizado, com confirmação de entrega.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notificações fora da aplicação (e-mail ou push), complementando o sino de notificações interno.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os indicadores do Dashboard com exportação direta de gráficos e comparação entre períodos (ano a ano).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Disponibilizar aplicativo mobile nativo ou PWA instalável para uso em campo, inclusive offline.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aprovação em múltiplos níveis (alçadas), para cenários que exijam mais de uma aprovação hierárquica.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56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C6940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FD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EXECUTIVA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Agregado e Potencial de Evolução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332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de Equipamentos Críticos consolida, em uma única plataforma web, o registro, a aprovação, o histórico e a auditoria de ocorrências, substituindo controles manuais por um processo digital, rastreável e configurável.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moderna (Next.js + Firebase) entrega atualização em tempo real, segurança reforçada em duas camadas (interface e banco de dados) e baixo custo de manutenção, por se apoiar em serviços gerenciados e hospedagem serverless.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motor de formulários dinâmicos e o construtor de campos garantem que a operação evolua sem depender de novas versões de código.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auditoria imutável e fluxo de aprovação estruturado atendem a requisitos de governança e conformidade.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A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potencial de evolução — integrações, aprovação multinível e aplicativo mobile — amplia o alcance da solução sem alterar sua base arquitetural.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D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CBD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EQUIPAMENTOS CRÍTICOS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4631</Words>
  <Application>Microsoft Office PowerPoint</Application>
  <PresentationFormat>Widescreen</PresentationFormat>
  <Paragraphs>557</Paragraphs>
  <Slides>30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Cambria</vt:lpstr>
      <vt:lpstr>Consolas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Normatel Engenharia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Executiva — Fluxo de Equipamentos Críticos</dc:title>
  <dc:subject>PptxGenJS Presentation</dc:subject>
  <dc:creator>Raphael Durão</dc:creator>
  <cp:lastModifiedBy>Raphael Durao</cp:lastModifiedBy>
  <cp:revision>2</cp:revision>
  <dcterms:created xsi:type="dcterms:W3CDTF">2026-07-23T15:20:52Z</dcterms:created>
  <dcterms:modified xsi:type="dcterms:W3CDTF">2026-07-23T16:24:35Z</dcterms:modified>
</cp:coreProperties>
</file>